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y="6858000" cx="12192000"/>
  <p:notesSz cx="6858000" cy="9144000"/>
  <p:embeddedFontLst>
    <p:embeddedFont>
      <p:font typeface="Montserrat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42" roundtripDataSignature="AMtx7mi4PwuojfbZ3GXpIDLkSNWkwmP2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italic.fntdata"/><Relationship Id="rId20" Type="http://schemas.openxmlformats.org/officeDocument/2006/relationships/slide" Target="slides/slide16.xml"/><Relationship Id="rId42" Type="http://customschemas.google.com/relationships/presentationmetadata" Target="metadata"/><Relationship Id="rId41" Type="http://schemas.openxmlformats.org/officeDocument/2006/relationships/font" Target="fonts/Montserrat-boldItalic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Montserrat-bold.fntdata"/><Relationship Id="rId16" Type="http://schemas.openxmlformats.org/officeDocument/2006/relationships/slide" Target="slides/slide12.xml"/><Relationship Id="rId38" Type="http://schemas.openxmlformats.org/officeDocument/2006/relationships/font" Target="fonts/Montserrat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Contoh, proses tape I/O perlu melakukan idle loop 10000 kali agar tape drive siap. Namun belum 10000 kali sudah dipotong oleh sistem operasi untuk menjalankan proses lain. Bisa jadi proses tape I/O kembali setelah tape melewati rekord pertama.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Pada kasus seperti ini, harus ada penanganan yang menjamin suatu kejadian terjadi pada waktu yang telah ditentukan (realtime os)</a:t>
            </a:r>
            <a:endParaRPr/>
          </a:p>
        </p:txBody>
      </p:sp>
      <p:sp>
        <p:nvSpPr>
          <p:cNvPr id="143" name="Google Shape;14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Sudut pandang probabilitas: jika suatu proses menghabiskan waktu sebesar p untuk menunggu I/O dan ada sebanyak n proses di dalam memori, maka probabilitas n proses menunggu I/O adalah p</a:t>
            </a:r>
            <a:r>
              <a:rPr baseline="30000" lang="en-US"/>
              <a:t>n</a:t>
            </a:r>
            <a:r>
              <a:rPr lang="en-US"/>
              <a:t> sehingga utilisasi cpu = 1 – p</a:t>
            </a:r>
            <a:r>
              <a:rPr baseline="30000" lang="en-US"/>
              <a:t>n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Tidak berlaku sepenuhnya mengingat hanya ada 1 CPU sehingga proses tidak saling lepas (tidak independen), seharusnya pemodelan menggunakan teori antrian (queueing theory) agar lebih akurat</a:t>
            </a:r>
            <a:endParaRPr baseline="30000"/>
          </a:p>
        </p:txBody>
      </p:sp>
      <p:sp>
        <p:nvSpPr>
          <p:cNvPr id="199" name="Google Shape;199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Mengapa: di dalam satu proses tunggal, dimaksudkan untuk bekerjasama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Tidak seperti proses, yang bisa berbeda pemiliknya, beda address space, beda resource sehingga perlu proteksi</a:t>
            </a:r>
            <a:endParaRPr/>
          </a:p>
        </p:txBody>
      </p:sp>
      <p:sp>
        <p:nvSpPr>
          <p:cNvPr id="256" name="Google Shape;25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2" name="Google Shape;282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Scheduler activation: upcall dari kernel ke proses untuk memberitahukan bahwa ada thread yang melakukan pemanggilan blocking sehingga runtime system dari proses dapat menjadwalkan thread lain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Violating layered system/design</a:t>
            </a:r>
            <a:endParaRPr/>
          </a:p>
        </p:txBody>
      </p:sp>
      <p:sp>
        <p:nvSpPr>
          <p:cNvPr id="283" name="Google Shape;283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5"/>
          <p:cNvSpPr txBox="1"/>
          <p:nvPr>
            <p:ph type="ctrTitle"/>
          </p:nvPr>
        </p:nvSpPr>
        <p:spPr>
          <a:xfrm>
            <a:off x="838200" y="1122363"/>
            <a:ext cx="10387596" cy="22424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600"/>
              <a:buFont typeface="Montserrat"/>
              <a:buNone/>
              <a:defRPr b="1" sz="3600">
                <a:solidFill>
                  <a:srgbClr val="CC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5"/>
          <p:cNvSpPr txBox="1"/>
          <p:nvPr>
            <p:ph idx="1" type="subTitle"/>
          </p:nvPr>
        </p:nvSpPr>
        <p:spPr>
          <a:xfrm>
            <a:off x="838200" y="3814618"/>
            <a:ext cx="10387596" cy="144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35"/>
          <p:cNvSpPr txBox="1"/>
          <p:nvPr>
            <p:ph idx="10" type="dt"/>
          </p:nvPr>
        </p:nvSpPr>
        <p:spPr>
          <a:xfrm>
            <a:off x="838200" y="6356350"/>
            <a:ext cx="12399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5"/>
          <p:cNvSpPr txBox="1"/>
          <p:nvPr>
            <p:ph idx="11" type="ftr"/>
          </p:nvPr>
        </p:nvSpPr>
        <p:spPr>
          <a:xfrm>
            <a:off x="4007756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5"/>
          <p:cNvSpPr txBox="1"/>
          <p:nvPr>
            <p:ph idx="12" type="sldNum"/>
          </p:nvPr>
        </p:nvSpPr>
        <p:spPr>
          <a:xfrm>
            <a:off x="10160837" y="6356350"/>
            <a:ext cx="11476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" name="Google Shape;21;p35"/>
          <p:cNvSpPr/>
          <p:nvPr/>
        </p:nvSpPr>
        <p:spPr>
          <a:xfrm>
            <a:off x="966204" y="3429000"/>
            <a:ext cx="944218" cy="1088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6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55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302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36"/>
          <p:cNvSpPr txBox="1"/>
          <p:nvPr>
            <p:ph idx="10" type="dt"/>
          </p:nvPr>
        </p:nvSpPr>
        <p:spPr>
          <a:xfrm>
            <a:off x="838200" y="6356350"/>
            <a:ext cx="12399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6"/>
          <p:cNvSpPr txBox="1"/>
          <p:nvPr>
            <p:ph idx="11" type="ftr"/>
          </p:nvPr>
        </p:nvSpPr>
        <p:spPr>
          <a:xfrm>
            <a:off x="4007756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6"/>
          <p:cNvSpPr txBox="1"/>
          <p:nvPr>
            <p:ph idx="12" type="sldNum"/>
          </p:nvPr>
        </p:nvSpPr>
        <p:spPr>
          <a:xfrm>
            <a:off x="10160837" y="6356350"/>
            <a:ext cx="11476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36"/>
          <p:cNvSpPr/>
          <p:nvPr/>
        </p:nvSpPr>
        <p:spPr>
          <a:xfrm>
            <a:off x="2454965" y="1172817"/>
            <a:ext cx="944218" cy="1088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37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7"/>
          <p:cNvSpPr txBox="1"/>
          <p:nvPr>
            <p:ph idx="1" type="body"/>
          </p:nvPr>
        </p:nvSpPr>
        <p:spPr>
          <a:xfrm>
            <a:off x="838200" y="1825625"/>
            <a:ext cx="511265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55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302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7"/>
          <p:cNvSpPr txBox="1"/>
          <p:nvPr>
            <p:ph idx="2" type="body"/>
          </p:nvPr>
        </p:nvSpPr>
        <p:spPr>
          <a:xfrm>
            <a:off x="6212937" y="1825625"/>
            <a:ext cx="511265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indent="-3556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/>
            </a:lvl2pPr>
            <a:lvl3pPr indent="-3429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302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4pPr>
            <a:lvl5pPr indent="-3302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37"/>
          <p:cNvSpPr txBox="1"/>
          <p:nvPr>
            <p:ph idx="10" type="dt"/>
          </p:nvPr>
        </p:nvSpPr>
        <p:spPr>
          <a:xfrm>
            <a:off x="838200" y="6356350"/>
            <a:ext cx="12399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37"/>
          <p:cNvSpPr txBox="1"/>
          <p:nvPr>
            <p:ph idx="11" type="ftr"/>
          </p:nvPr>
        </p:nvSpPr>
        <p:spPr>
          <a:xfrm>
            <a:off x="4007756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7"/>
          <p:cNvSpPr txBox="1"/>
          <p:nvPr>
            <p:ph idx="12" type="sldNum"/>
          </p:nvPr>
        </p:nvSpPr>
        <p:spPr>
          <a:xfrm>
            <a:off x="10160837" y="6356350"/>
            <a:ext cx="11476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" name="Google Shape;36;p37"/>
          <p:cNvSpPr/>
          <p:nvPr/>
        </p:nvSpPr>
        <p:spPr>
          <a:xfrm>
            <a:off x="2454965" y="1172817"/>
            <a:ext cx="944218" cy="108848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8"/>
          <p:cNvSpPr txBox="1"/>
          <p:nvPr>
            <p:ph type="title"/>
          </p:nvPr>
        </p:nvSpPr>
        <p:spPr>
          <a:xfrm>
            <a:off x="831849" y="1709738"/>
            <a:ext cx="10476605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Montserrat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8"/>
          <p:cNvSpPr txBox="1"/>
          <p:nvPr>
            <p:ph idx="1" type="body"/>
          </p:nvPr>
        </p:nvSpPr>
        <p:spPr>
          <a:xfrm>
            <a:off x="831849" y="4589463"/>
            <a:ext cx="10476605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2400"/>
              <a:buNone/>
              <a:defRPr sz="2400">
                <a:solidFill>
                  <a:srgbClr val="CC0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38"/>
          <p:cNvSpPr txBox="1"/>
          <p:nvPr>
            <p:ph idx="10" type="dt"/>
          </p:nvPr>
        </p:nvSpPr>
        <p:spPr>
          <a:xfrm>
            <a:off x="838200" y="6356350"/>
            <a:ext cx="12399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8"/>
          <p:cNvSpPr txBox="1"/>
          <p:nvPr>
            <p:ph idx="11" type="ftr"/>
          </p:nvPr>
        </p:nvSpPr>
        <p:spPr>
          <a:xfrm>
            <a:off x="4007756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8"/>
          <p:cNvSpPr txBox="1"/>
          <p:nvPr>
            <p:ph idx="12" type="sldNum"/>
          </p:nvPr>
        </p:nvSpPr>
        <p:spPr>
          <a:xfrm>
            <a:off x="10160837" y="6356350"/>
            <a:ext cx="11476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38"/>
          <p:cNvSpPr/>
          <p:nvPr/>
        </p:nvSpPr>
        <p:spPr>
          <a:xfrm>
            <a:off x="956265" y="4496938"/>
            <a:ext cx="944218" cy="108848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9"/>
          <p:cNvSpPr txBox="1"/>
          <p:nvPr>
            <p:ph type="title"/>
          </p:nvPr>
        </p:nvSpPr>
        <p:spPr>
          <a:xfrm>
            <a:off x="2375452" y="365125"/>
            <a:ext cx="899553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9"/>
          <p:cNvSpPr txBox="1"/>
          <p:nvPr>
            <p:ph idx="1" type="body"/>
          </p:nvPr>
        </p:nvSpPr>
        <p:spPr>
          <a:xfrm>
            <a:off x="821018" y="1681163"/>
            <a:ext cx="5094136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1800"/>
              <a:buNone/>
              <a:defRPr b="1" sz="1800">
                <a:solidFill>
                  <a:srgbClr val="CC0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9"/>
          <p:cNvSpPr txBox="1"/>
          <p:nvPr>
            <p:ph idx="2" type="body"/>
          </p:nvPr>
        </p:nvSpPr>
        <p:spPr>
          <a:xfrm>
            <a:off x="821018" y="2505075"/>
            <a:ext cx="5094136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9"/>
          <p:cNvSpPr txBox="1"/>
          <p:nvPr>
            <p:ph idx="3" type="body"/>
          </p:nvPr>
        </p:nvSpPr>
        <p:spPr>
          <a:xfrm>
            <a:off x="6276846" y="1681163"/>
            <a:ext cx="5094136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C0000"/>
              </a:buClr>
              <a:buSzPts val="1800"/>
              <a:buNone/>
              <a:defRPr b="1" sz="1800">
                <a:solidFill>
                  <a:srgbClr val="CC000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9"/>
          <p:cNvSpPr txBox="1"/>
          <p:nvPr>
            <p:ph idx="4" type="body"/>
          </p:nvPr>
        </p:nvSpPr>
        <p:spPr>
          <a:xfrm>
            <a:off x="6276846" y="2505075"/>
            <a:ext cx="5094136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30200" lvl="1" marL="9144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17500" lvl="2" marL="13716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9"/>
          <p:cNvSpPr txBox="1"/>
          <p:nvPr>
            <p:ph idx="10" type="dt"/>
          </p:nvPr>
        </p:nvSpPr>
        <p:spPr>
          <a:xfrm>
            <a:off x="838200" y="6356350"/>
            <a:ext cx="12399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9"/>
          <p:cNvSpPr txBox="1"/>
          <p:nvPr>
            <p:ph idx="11" type="ftr"/>
          </p:nvPr>
        </p:nvSpPr>
        <p:spPr>
          <a:xfrm>
            <a:off x="4007756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9"/>
          <p:cNvSpPr txBox="1"/>
          <p:nvPr>
            <p:ph idx="12" type="sldNum"/>
          </p:nvPr>
        </p:nvSpPr>
        <p:spPr>
          <a:xfrm>
            <a:off x="10160837" y="6356350"/>
            <a:ext cx="11476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0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40"/>
          <p:cNvSpPr txBox="1"/>
          <p:nvPr>
            <p:ph idx="10" type="dt"/>
          </p:nvPr>
        </p:nvSpPr>
        <p:spPr>
          <a:xfrm>
            <a:off x="838200" y="6356350"/>
            <a:ext cx="12399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40"/>
          <p:cNvSpPr txBox="1"/>
          <p:nvPr>
            <p:ph idx="11" type="ftr"/>
          </p:nvPr>
        </p:nvSpPr>
        <p:spPr>
          <a:xfrm>
            <a:off x="4007756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40"/>
          <p:cNvSpPr txBox="1"/>
          <p:nvPr>
            <p:ph idx="12" type="sldNum"/>
          </p:nvPr>
        </p:nvSpPr>
        <p:spPr>
          <a:xfrm>
            <a:off x="10160837" y="6356350"/>
            <a:ext cx="11476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1"/>
          <p:cNvSpPr txBox="1"/>
          <p:nvPr>
            <p:ph idx="10" type="dt"/>
          </p:nvPr>
        </p:nvSpPr>
        <p:spPr>
          <a:xfrm>
            <a:off x="838200" y="6356350"/>
            <a:ext cx="12399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11" type="ftr"/>
          </p:nvPr>
        </p:nvSpPr>
        <p:spPr>
          <a:xfrm>
            <a:off x="4007756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41"/>
          <p:cNvSpPr txBox="1"/>
          <p:nvPr>
            <p:ph idx="12" type="sldNum"/>
          </p:nvPr>
        </p:nvSpPr>
        <p:spPr>
          <a:xfrm>
            <a:off x="10160837" y="6356350"/>
            <a:ext cx="11476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>
  <p:cSld name="Content with Caption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2"/>
          <p:cNvSpPr txBox="1"/>
          <p:nvPr>
            <p:ph type="title"/>
          </p:nvPr>
        </p:nvSpPr>
        <p:spPr>
          <a:xfrm>
            <a:off x="839788" y="457200"/>
            <a:ext cx="4072113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42"/>
          <p:cNvSpPr txBox="1"/>
          <p:nvPr>
            <p:ph idx="1" type="body"/>
          </p:nvPr>
        </p:nvSpPr>
        <p:spPr>
          <a:xfrm>
            <a:off x="5375503" y="987425"/>
            <a:ext cx="5932952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42"/>
          <p:cNvSpPr txBox="1"/>
          <p:nvPr>
            <p:ph idx="2" type="body"/>
          </p:nvPr>
        </p:nvSpPr>
        <p:spPr>
          <a:xfrm>
            <a:off x="839788" y="2057400"/>
            <a:ext cx="4072113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42"/>
          <p:cNvSpPr txBox="1"/>
          <p:nvPr>
            <p:ph idx="10" type="dt"/>
          </p:nvPr>
        </p:nvSpPr>
        <p:spPr>
          <a:xfrm>
            <a:off x="838200" y="6356350"/>
            <a:ext cx="12399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2"/>
          <p:cNvSpPr txBox="1"/>
          <p:nvPr>
            <p:ph idx="11" type="ftr"/>
          </p:nvPr>
        </p:nvSpPr>
        <p:spPr>
          <a:xfrm>
            <a:off x="4007756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42"/>
          <p:cNvSpPr txBox="1"/>
          <p:nvPr>
            <p:ph idx="12" type="sldNum"/>
          </p:nvPr>
        </p:nvSpPr>
        <p:spPr>
          <a:xfrm>
            <a:off x="10160837" y="6356350"/>
            <a:ext cx="11476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3"/>
          <p:cNvSpPr txBox="1"/>
          <p:nvPr>
            <p:ph type="title"/>
          </p:nvPr>
        </p:nvSpPr>
        <p:spPr>
          <a:xfrm>
            <a:off x="839787" y="457200"/>
            <a:ext cx="4114799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43"/>
          <p:cNvSpPr/>
          <p:nvPr>
            <p:ph idx="2" type="pic"/>
          </p:nvPr>
        </p:nvSpPr>
        <p:spPr>
          <a:xfrm>
            <a:off x="5294713" y="992187"/>
            <a:ext cx="6057499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43"/>
          <p:cNvSpPr txBox="1"/>
          <p:nvPr>
            <p:ph idx="1" type="body"/>
          </p:nvPr>
        </p:nvSpPr>
        <p:spPr>
          <a:xfrm>
            <a:off x="839787" y="2057400"/>
            <a:ext cx="4114799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43"/>
          <p:cNvSpPr txBox="1"/>
          <p:nvPr>
            <p:ph idx="10" type="dt"/>
          </p:nvPr>
        </p:nvSpPr>
        <p:spPr>
          <a:xfrm>
            <a:off x="838200" y="6356350"/>
            <a:ext cx="12399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43"/>
          <p:cNvSpPr txBox="1"/>
          <p:nvPr>
            <p:ph idx="11" type="ftr"/>
          </p:nvPr>
        </p:nvSpPr>
        <p:spPr>
          <a:xfrm>
            <a:off x="4007756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43"/>
          <p:cNvSpPr txBox="1"/>
          <p:nvPr>
            <p:ph idx="12" type="sldNum"/>
          </p:nvPr>
        </p:nvSpPr>
        <p:spPr>
          <a:xfrm>
            <a:off x="10160837" y="6356350"/>
            <a:ext cx="11476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43"/>
          <p:cNvSpPr/>
          <p:nvPr/>
        </p:nvSpPr>
        <p:spPr>
          <a:xfrm>
            <a:off x="951345" y="2014741"/>
            <a:ext cx="988291" cy="45719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>
  <p:cSld name="Title and Vertical 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4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4"/>
          <p:cNvSpPr txBox="1"/>
          <p:nvPr>
            <p:ph idx="1" type="body"/>
          </p:nvPr>
        </p:nvSpPr>
        <p:spPr>
          <a:xfrm rot="5400000">
            <a:off x="3707201" y="-1407950"/>
            <a:ext cx="4715911" cy="10453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44"/>
          <p:cNvSpPr txBox="1"/>
          <p:nvPr>
            <p:ph idx="10" type="dt"/>
          </p:nvPr>
        </p:nvSpPr>
        <p:spPr>
          <a:xfrm>
            <a:off x="838200" y="6356350"/>
            <a:ext cx="12399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44"/>
          <p:cNvSpPr txBox="1"/>
          <p:nvPr>
            <p:ph idx="11" type="ftr"/>
          </p:nvPr>
        </p:nvSpPr>
        <p:spPr>
          <a:xfrm>
            <a:off x="4007756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44"/>
          <p:cNvSpPr txBox="1"/>
          <p:nvPr>
            <p:ph idx="12" type="sldNum"/>
          </p:nvPr>
        </p:nvSpPr>
        <p:spPr>
          <a:xfrm>
            <a:off x="10160837" y="6356350"/>
            <a:ext cx="11476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5"/>
          <p:cNvSpPr txBox="1"/>
          <p:nvPr>
            <p:ph type="title"/>
          </p:nvPr>
        </p:nvSpPr>
        <p:spPr>
          <a:xfrm>
            <a:off x="3454400" y="228600"/>
            <a:ext cx="528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  <a:defRPr b="1" i="0" sz="2400" u="none" cap="none" strike="noStrike">
                <a:solidFill>
                  <a:srgbClr val="C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5" name="Google Shape;85;p45"/>
          <p:cNvSpPr txBox="1"/>
          <p:nvPr>
            <p:ph idx="1" type="body"/>
          </p:nvPr>
        </p:nvSpPr>
        <p:spPr>
          <a:xfrm>
            <a:off x="609600" y="1752600"/>
            <a:ext cx="10972800" cy="44195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marR="0" algn="l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45"/>
          <p:cNvSpPr txBox="1"/>
          <p:nvPr>
            <p:ph idx="10" type="dt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45"/>
          <p:cNvSpPr txBox="1"/>
          <p:nvPr>
            <p:ph idx="12" type="sldNum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8" name="Google Shape;88;p45"/>
          <p:cNvSpPr txBox="1"/>
          <p:nvPr>
            <p:ph idx="11" type="ftr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9" name="Google Shape;89;p45"/>
          <p:cNvSpPr txBox="1"/>
          <p:nvPr>
            <p:ph idx="2" type="body"/>
          </p:nvPr>
        </p:nvSpPr>
        <p:spPr>
          <a:xfrm>
            <a:off x="609600" y="1066800"/>
            <a:ext cx="10972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 marR="0" algn="ctr">
              <a:lnSpc>
                <a:spcPct val="90000"/>
              </a:lnSpc>
              <a:spcBef>
                <a:spcPts val="751"/>
              </a:spcBef>
              <a:spcAft>
                <a:spcPts val="0"/>
              </a:spcAft>
              <a:buClr>
                <a:srgbClr val="002060"/>
              </a:buClr>
              <a:buSzPts val="2100"/>
              <a:buFont typeface="Arial"/>
              <a:buNone/>
              <a:defRPr b="1" i="0" sz="21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1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6"/>
          <p:cNvSpPr txBox="1"/>
          <p:nvPr>
            <p:ph type="ctrTitle"/>
          </p:nvPr>
        </p:nvSpPr>
        <p:spPr>
          <a:xfrm>
            <a:off x="8382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600"/>
              <a:buFont typeface="Montserrat"/>
              <a:buNone/>
              <a:defRPr b="1" sz="3600">
                <a:solidFill>
                  <a:srgbClr val="CC0000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46"/>
          <p:cNvSpPr txBox="1"/>
          <p:nvPr>
            <p:ph idx="1" type="subTitle"/>
          </p:nvPr>
        </p:nvSpPr>
        <p:spPr>
          <a:xfrm>
            <a:off x="838200" y="3602038"/>
            <a:ext cx="77724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93" name="Google Shape;93;p46"/>
          <p:cNvSpPr txBox="1"/>
          <p:nvPr>
            <p:ph idx="10" type="dt"/>
          </p:nvPr>
        </p:nvSpPr>
        <p:spPr>
          <a:xfrm>
            <a:off x="838200" y="6356350"/>
            <a:ext cx="12399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46"/>
          <p:cNvSpPr txBox="1"/>
          <p:nvPr>
            <p:ph idx="11" type="ftr"/>
          </p:nvPr>
        </p:nvSpPr>
        <p:spPr>
          <a:xfrm>
            <a:off x="4007756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46"/>
          <p:cNvSpPr txBox="1"/>
          <p:nvPr>
            <p:ph idx="12" type="sldNum"/>
          </p:nvPr>
        </p:nvSpPr>
        <p:spPr>
          <a:xfrm>
            <a:off x="10160837" y="6356350"/>
            <a:ext cx="11476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6" name="Google Shape;96;p46"/>
          <p:cNvSpPr/>
          <p:nvPr>
            <p:ph idx="2" type="media"/>
          </p:nvPr>
        </p:nvSpPr>
        <p:spPr>
          <a:xfrm>
            <a:off x="9005455" y="0"/>
            <a:ext cx="3186545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Title and Content" type="obj">
  <p:cSld name="OBJEC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7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47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47"/>
          <p:cNvSpPr txBox="1"/>
          <p:nvPr>
            <p:ph idx="10" type="dt"/>
          </p:nvPr>
        </p:nvSpPr>
        <p:spPr>
          <a:xfrm>
            <a:off x="838200" y="6356350"/>
            <a:ext cx="12399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47"/>
          <p:cNvSpPr txBox="1"/>
          <p:nvPr>
            <p:ph idx="11" type="ftr"/>
          </p:nvPr>
        </p:nvSpPr>
        <p:spPr>
          <a:xfrm>
            <a:off x="4007756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47"/>
          <p:cNvSpPr txBox="1"/>
          <p:nvPr>
            <p:ph idx="12" type="sldNum"/>
          </p:nvPr>
        </p:nvSpPr>
        <p:spPr>
          <a:xfrm>
            <a:off x="10160837" y="6356350"/>
            <a:ext cx="11476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b="1" i="0" sz="32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4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34"/>
          <p:cNvSpPr txBox="1"/>
          <p:nvPr>
            <p:ph idx="10" type="dt"/>
          </p:nvPr>
        </p:nvSpPr>
        <p:spPr>
          <a:xfrm>
            <a:off x="838200" y="6356350"/>
            <a:ext cx="123998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34"/>
          <p:cNvSpPr txBox="1"/>
          <p:nvPr>
            <p:ph idx="11" type="ftr"/>
          </p:nvPr>
        </p:nvSpPr>
        <p:spPr>
          <a:xfrm>
            <a:off x="4007756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34"/>
          <p:cNvSpPr txBox="1"/>
          <p:nvPr>
            <p:ph idx="12" type="sldNum"/>
          </p:nvPr>
        </p:nvSpPr>
        <p:spPr>
          <a:xfrm>
            <a:off x="10160837" y="6356350"/>
            <a:ext cx="114761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jp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 txBox="1"/>
          <p:nvPr>
            <p:ph type="ctrTitle"/>
          </p:nvPr>
        </p:nvSpPr>
        <p:spPr>
          <a:xfrm>
            <a:off x="838200" y="1122363"/>
            <a:ext cx="10387596" cy="22424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3600"/>
              <a:buFont typeface="Montserrat"/>
              <a:buNone/>
            </a:pPr>
            <a:r>
              <a:rPr lang="en-US"/>
              <a:t>Sistem Operasi</a:t>
            </a:r>
            <a:endParaRPr/>
          </a:p>
        </p:txBody>
      </p:sp>
      <p:sp>
        <p:nvSpPr>
          <p:cNvPr id="108" name="Google Shape;108;p1"/>
          <p:cNvSpPr txBox="1"/>
          <p:nvPr>
            <p:ph idx="1" type="subTitle"/>
          </p:nvPr>
        </p:nvSpPr>
        <p:spPr>
          <a:xfrm>
            <a:off x="838200" y="3814618"/>
            <a:ext cx="10387596" cy="14431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Proses dan Thread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Proses</a:t>
            </a:r>
            <a:endParaRPr/>
          </a:p>
        </p:txBody>
      </p:sp>
      <p:sp>
        <p:nvSpPr>
          <p:cNvPr id="114" name="Google Shape;114;p2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Abstraksi paling utama dalam sebuah sistem operasi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/>
              <a:t>Proses</a:t>
            </a:r>
            <a:r>
              <a:rPr lang="en-US"/>
              <a:t> adalah abstraksi dari sebuah program yang sedang berjalan (</a:t>
            </a:r>
            <a:r>
              <a:rPr b="1" lang="en-US"/>
              <a:t>running program</a:t>
            </a:r>
            <a:r>
              <a:rPr lang="en-US"/>
              <a:t>): lebih detail pada model proses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Abstraksi proses memungkinkan sistem komputer untuk </a:t>
            </a:r>
            <a:r>
              <a:rPr lang="en-US" u="sng"/>
              <a:t>menjalankan lebih dari satu tugas dalam waktu yang sama (secara semu/pseudo)</a:t>
            </a:r>
            <a:r>
              <a:rPr lang="en-US"/>
              <a:t> meskipun hanya tersedia satu CPU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Proses</a:t>
            </a:r>
            <a:endParaRPr/>
          </a:p>
        </p:txBody>
      </p:sp>
      <p:sp>
        <p:nvSpPr>
          <p:cNvPr id="120" name="Google Shape;120;p3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Kemampuan untuk menjalankan banyak proses pada satu waktu dimungkinkan dengan adanya dukungan hardware pada mikroprosesor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Satu CPU 🡪 banyak virtual CPU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Dengan abstraksi proses (dan thread) maka konkurensi dapat dicapai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Teknik yang digunakan untuk mencapai konkurensi pada umumnya adalah melakukan penggiliran (switch) dari satu proses  ke proses lain secara cepat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Proses</a:t>
            </a:r>
            <a:endParaRPr/>
          </a:p>
        </p:txBody>
      </p:sp>
      <p:sp>
        <p:nvSpPr>
          <p:cNvPr id="126" name="Google Shape;126;p4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Disebut dengan </a:t>
            </a:r>
            <a:r>
              <a:rPr lang="en-US"/>
              <a:t>pseudo parallelism</a:t>
            </a:r>
            <a:r>
              <a:rPr lang="en-US"/>
              <a:t>: paralelisme semu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Lain halnya jika tersedia lebih dari satu CPU (multiprocessor): real parallelism, </a:t>
            </a:r>
            <a:r>
              <a:rPr lang="en-US"/>
              <a:t>parallelism</a:t>
            </a:r>
            <a:r>
              <a:rPr lang="en-US"/>
              <a:t> nyata karena betul-betul ada lebih dari satu proses yang berjalan pada satu waktu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Model proses</a:t>
            </a:r>
            <a:endParaRPr/>
          </a:p>
        </p:txBody>
      </p:sp>
      <p:sp>
        <p:nvSpPr>
          <p:cNvPr id="132" name="Google Shape;132;p5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Semua perangkat lunak yang dapat di-running  (runnable software) dikelompokkan menjadi proses-proses berurutan (sequential processes) atau singkatnya proses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Termasuk di dalam setiap proses adalah program counter (IP), register, dan variabel: setiap proses memiliki “CPU”-nya sendiri-sendiri (virtual CPU)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Multiprogramming: menggilir program secara cepat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Model proses</a:t>
            </a:r>
            <a:endParaRPr/>
          </a:p>
        </p:txBody>
      </p:sp>
      <p:sp>
        <p:nvSpPr>
          <p:cNvPr id="138" name="Google Shape;138;p6"/>
          <p:cNvSpPr txBox="1"/>
          <p:nvPr>
            <p:ph idx="1" type="body"/>
          </p:nvPr>
        </p:nvSpPr>
        <p:spPr>
          <a:xfrm>
            <a:off x="1981200" y="4725145"/>
            <a:ext cx="8229600" cy="14010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a. Multiprogramming 4 buah program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b. Secara konseptual adalah 4 program yang independen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c. Hanya 1 program yang aktif dalam 1 waktu</a:t>
            </a:r>
            <a:endParaRPr/>
          </a:p>
        </p:txBody>
      </p:sp>
      <p:pic>
        <p:nvPicPr>
          <p:cNvPr descr="02-01" id="139" name="Google Shape;1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4324" y="1789113"/>
            <a:ext cx="7658100" cy="24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Model proses</a:t>
            </a:r>
            <a:endParaRPr/>
          </a:p>
        </p:txBody>
      </p:sp>
      <p:sp>
        <p:nvSpPr>
          <p:cNvPr id="146" name="Google Shape;146;p7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Karena cara mencapai paralelisme dilakukan dengan menggilir proses, maka dalam membuat program tidak boleh mengasumsikan mengenai pewaktuan (timing)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Namun, normalnya proses tidak terpengaruh terhadap teknik multiprogramming yang diterapkan pada sistem operasi maupun kecepatan CPU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8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Penciptaan proses</a:t>
            </a:r>
            <a:endParaRPr/>
          </a:p>
        </p:txBody>
      </p:sp>
      <p:sp>
        <p:nvSpPr>
          <p:cNvPr id="152" name="Google Shape;152;p8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Inisialisasi sistem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Eksekusi pemanggilan sistem penciptaan proses oleh proses yang sedang berjalan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Permintaan pengguna untuk menjalankan sebuah proses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Dimulainya sebuah batch job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9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Terminasi proses</a:t>
            </a:r>
            <a:endParaRPr/>
          </a:p>
        </p:txBody>
      </p:sp>
      <p:sp>
        <p:nvSpPr>
          <p:cNvPr id="158" name="Google Shape;158;p9"/>
          <p:cNvSpPr txBox="1"/>
          <p:nvPr>
            <p:ph idx="1" type="body"/>
          </p:nvPr>
        </p:nvSpPr>
        <p:spPr>
          <a:xfrm>
            <a:off x="838199" y="1461052"/>
            <a:ext cx="10453800" cy="47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Normal exit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Error exit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Fatal error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Killed by another process</a:t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3081123" y="1634374"/>
            <a:ext cx="288000" cy="7200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5217937" y="3007377"/>
            <a:ext cx="360000" cy="720000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3513171" y="1634375"/>
            <a:ext cx="3433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Sukarela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/voluntary</a:t>
            </a:r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5738569" y="2863361"/>
            <a:ext cx="20718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Terpaksa/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involuntary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Hirarki proses</a:t>
            </a:r>
            <a:endParaRPr/>
          </a:p>
        </p:txBody>
      </p:sp>
      <p:sp>
        <p:nvSpPr>
          <p:cNvPr id="168" name="Google Shape;168;p10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4003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Pada beberapa sistem operasi, </a:t>
            </a:r>
            <a:r>
              <a:rPr lang="en-US"/>
              <a:t>penciptaan</a:t>
            </a:r>
            <a:r>
              <a:rPr lang="en-US"/>
              <a:t> proses dapat membentuk hirarki</a:t>
            </a:r>
            <a:endParaRPr/>
          </a:p>
          <a:p>
            <a:pPr indent="-24003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Parent process &amp; child process</a:t>
            </a:r>
            <a:endParaRPr/>
          </a:p>
          <a:p>
            <a:pPr indent="-24003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Pada UNIX, parent dan seluruh child process membentuk process group: sinyal dikirimkan ke seluruh anggota process group</a:t>
            </a:r>
            <a:endParaRPr/>
          </a:p>
          <a:p>
            <a:pPr indent="-24003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Pada UNIX, induk dari seluruh proses adalah </a:t>
            </a:r>
            <a:r>
              <a:rPr b="1" lang="en-US"/>
              <a:t>init</a:t>
            </a:r>
            <a:endParaRPr/>
          </a:p>
          <a:p>
            <a:pPr indent="-24003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Hirarki tidak berlaku pada Windows: semua proses memiliki jenjang yang sama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1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Status proses</a:t>
            </a:r>
            <a:endParaRPr/>
          </a:p>
        </p:txBody>
      </p:sp>
      <p:sp>
        <p:nvSpPr>
          <p:cNvPr id="174" name="Google Shape;174;p11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Running: sedang menggunakan CPU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Ready: siap untuk di-run setiap saat, sedang berhenti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Blocked: tidak siap untuk di-run sampai suatu event terjadi</a:t>
            </a:r>
            <a:endParaRPr/>
          </a:p>
        </p:txBody>
      </p:sp>
      <p:pic>
        <p:nvPicPr>
          <p:cNvPr descr="02-02" id="175" name="Google Shape;17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0" y="3892561"/>
            <a:ext cx="7619999" cy="177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Implementasi proses</a:t>
            </a:r>
            <a:endParaRPr/>
          </a:p>
        </p:txBody>
      </p:sp>
      <p:sp>
        <p:nvSpPr>
          <p:cNvPr id="181" name="Google Shape;181;p12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Model proses di dalam sistem operasi dikelola dalam process table/process control block: masing-masing proses memiliki satu entri pada process table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Berisi informasi: process state, program counter, stack pointer, dll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3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Implementasi proses</a:t>
            </a:r>
            <a:endParaRPr/>
          </a:p>
        </p:txBody>
      </p:sp>
      <p:sp>
        <p:nvSpPr>
          <p:cNvPr id="187" name="Google Shape;187;p13"/>
          <p:cNvSpPr txBox="1"/>
          <p:nvPr>
            <p:ph idx="1" type="body"/>
          </p:nvPr>
        </p:nvSpPr>
        <p:spPr>
          <a:xfrm>
            <a:off x="442375" y="2702700"/>
            <a:ext cx="2749200" cy="20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/>
          </a:bodyPr>
          <a:lstStyle/>
          <a:p>
            <a:pPr indent="-228600" lvl="0" marL="2286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Beberapa informasi yang umumnya disimpan di dalam process table</a:t>
            </a:r>
            <a:endParaRPr/>
          </a:p>
        </p:txBody>
      </p:sp>
      <p:pic>
        <p:nvPicPr>
          <p:cNvPr descr="02-04" id="188" name="Google Shape;188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91573" y="1355575"/>
            <a:ext cx="8530325" cy="4932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4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Implementasi proses</a:t>
            </a:r>
            <a:endParaRPr/>
          </a:p>
        </p:txBody>
      </p:sp>
      <p:sp>
        <p:nvSpPr>
          <p:cNvPr id="194" name="Google Shape;194;p14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Bagaimana multiprogramming sesungguhnya dilakukan?</a:t>
            </a:r>
            <a:endParaRPr/>
          </a:p>
        </p:txBody>
      </p:sp>
      <p:pic>
        <p:nvPicPr>
          <p:cNvPr descr="02-05" id="195" name="Google Shape;1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1851" y="2417240"/>
            <a:ext cx="7286626" cy="280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Pemodelan multiprogramming</a:t>
            </a:r>
            <a:endParaRPr/>
          </a:p>
        </p:txBody>
      </p:sp>
      <p:sp>
        <p:nvSpPr>
          <p:cNvPr id="202" name="Google Shape;202;p15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Utilisasi CPU dibanding jumlah proses</a:t>
            </a:r>
            <a:endParaRPr/>
          </a:p>
        </p:txBody>
      </p:sp>
      <p:grpSp>
        <p:nvGrpSpPr>
          <p:cNvPr id="203" name="Google Shape;203;p15"/>
          <p:cNvGrpSpPr/>
          <p:nvPr/>
        </p:nvGrpSpPr>
        <p:grpSpPr>
          <a:xfrm>
            <a:off x="2794000" y="2924944"/>
            <a:ext cx="6604000" cy="3897724"/>
            <a:chOff x="1270000" y="2204864"/>
            <a:chExt cx="6604000" cy="3897724"/>
          </a:xfrm>
        </p:grpSpPr>
        <p:pic>
          <p:nvPicPr>
            <p:cNvPr descr="02-06" id="204" name="Google Shape;204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70000" y="2204864"/>
              <a:ext cx="6604000" cy="3711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pic>
        <p:sp>
          <p:nvSpPr>
            <p:cNvPr id="205" name="Google Shape;205;p15"/>
            <p:cNvSpPr txBox="1"/>
            <p:nvPr/>
          </p:nvSpPr>
          <p:spPr>
            <a:xfrm>
              <a:off x="3745908" y="5733256"/>
              <a:ext cx="2914324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Degree of multiprogramming</a:t>
              </a:r>
              <a:endParaRPr/>
            </a:p>
          </p:txBody>
        </p:sp>
      </p:grpSp>
      <p:pic>
        <p:nvPicPr>
          <p:cNvPr id="206" name="Google Shape;20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27648" y="2204864"/>
            <a:ext cx="6424612" cy="53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6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Thread</a:t>
            </a:r>
            <a:endParaRPr/>
          </a:p>
        </p:txBody>
      </p:sp>
      <p:sp>
        <p:nvSpPr>
          <p:cNvPr id="212" name="Google Shape;212;p16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Proses di dalam proses: paralelisme di dalam suatu proses</a:t>
            </a:r>
            <a:endParaRPr/>
          </a:p>
          <a:p>
            <a:pPr indent="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/>
              <a:t>Alasan: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Memecah menjadi proses-proses kecil mempermudah dalam model </a:t>
            </a:r>
            <a:r>
              <a:rPr lang="en-US"/>
              <a:t>pemrogramannya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Menciptakan dan menghancurkan thread lebih cepat dan mudah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Meningkatkan unjuk kerja di dalam suatu proses: jika gabungan antara CPU dan I/O bound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Sangat berguna pada sistem multiprosesor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7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Contoh thread</a:t>
            </a:r>
            <a:endParaRPr/>
          </a:p>
        </p:txBody>
      </p:sp>
      <p:sp>
        <p:nvSpPr>
          <p:cNvPr id="218" name="Google Shape;218;p17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Word processor dengan 3 thread</a:t>
            </a:r>
            <a:endParaRPr/>
          </a:p>
        </p:txBody>
      </p:sp>
      <p:pic>
        <p:nvPicPr>
          <p:cNvPr descr="02-07" id="219" name="Google Shape;21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12306" y="2077485"/>
            <a:ext cx="7505700" cy="377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Contoh thread</a:t>
            </a:r>
            <a:endParaRPr/>
          </a:p>
        </p:txBody>
      </p:sp>
      <p:sp>
        <p:nvSpPr>
          <p:cNvPr id="225" name="Google Shape;225;p18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Web server</a:t>
            </a:r>
            <a:endParaRPr/>
          </a:p>
        </p:txBody>
      </p:sp>
      <p:pic>
        <p:nvPicPr>
          <p:cNvPr descr="02-08" id="226" name="Google Shape;22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28926" y="2257252"/>
            <a:ext cx="6873875" cy="455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Contoh thread</a:t>
            </a:r>
            <a:endParaRPr/>
          </a:p>
        </p:txBody>
      </p:sp>
      <p:sp>
        <p:nvSpPr>
          <p:cNvPr id="232" name="Google Shape;232;p19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Cuplikan program Web server: (a) dispatcher thread, (b) worker thread</a:t>
            </a:r>
            <a:endParaRPr/>
          </a:p>
        </p:txBody>
      </p:sp>
      <p:pic>
        <p:nvPicPr>
          <p:cNvPr descr="02-09" id="233" name="Google Shape;23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0862" y="3355182"/>
            <a:ext cx="8883650" cy="2378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Model thread klasik</a:t>
            </a:r>
            <a:endParaRPr/>
          </a:p>
        </p:txBody>
      </p:sp>
      <p:sp>
        <p:nvSpPr>
          <p:cNvPr id="239" name="Google Shape;239;p20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Model proses didasari atas 2 konsep yang independen: </a:t>
            </a:r>
            <a:r>
              <a:rPr b="1" lang="en-US"/>
              <a:t>resource grouping</a:t>
            </a:r>
            <a:r>
              <a:rPr lang="en-US"/>
              <a:t> dan </a:t>
            </a:r>
            <a:r>
              <a:rPr b="1" lang="en-US"/>
              <a:t>execution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Proses (</a:t>
            </a:r>
            <a:r>
              <a:rPr lang="en-US" u="sng"/>
              <a:t>resource grouping</a:t>
            </a:r>
            <a:r>
              <a:rPr lang="en-US"/>
              <a:t>): cara mengelompokkan sumber daya yang saling terkait 🡪 instruksi mesin, data, address space, program counter, open file, dll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Thread (</a:t>
            </a:r>
            <a:r>
              <a:rPr lang="en-US" u="sng"/>
              <a:t>execution</a:t>
            </a:r>
            <a:r>
              <a:rPr lang="en-US"/>
              <a:t>): alur eksekusi, memiliki program counter, stack, dll (“subset” dari process table)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1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Model thread klasik</a:t>
            </a:r>
            <a:endParaRPr/>
          </a:p>
        </p:txBody>
      </p:sp>
      <p:sp>
        <p:nvSpPr>
          <p:cNvPr id="245" name="Google Shape;245;p21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Proses dan thread adalah konsep yang berbeda: proses mengelompokkan sumber daya sementara thread adalah entitas yang dijadwalkan untuk dieksekusi oleh CPU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Analogi (rekursi):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Proses berbagi memori/RAM, disk, mouse, dll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Thread berbagi address space dan sumber daya yang dimiliki proses (open file, variabel, dll)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2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Model thread klasik</a:t>
            </a:r>
            <a:endParaRPr/>
          </a:p>
        </p:txBody>
      </p:sp>
      <p:sp>
        <p:nvSpPr>
          <p:cNvPr id="251" name="Google Shape;251;p22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(a) Single threaded, (b) multithreaded</a:t>
            </a:r>
            <a:endParaRPr/>
          </a:p>
        </p:txBody>
      </p:sp>
      <p:pic>
        <p:nvPicPr>
          <p:cNvPr descr="02-11" id="252" name="Google Shape;25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9537" y="2571080"/>
            <a:ext cx="8283575" cy="337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Model thread klasik</a:t>
            </a:r>
            <a:endParaRPr/>
          </a:p>
        </p:txBody>
      </p:sp>
      <p:sp>
        <p:nvSpPr>
          <p:cNvPr id="259" name="Google Shape;259;p23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Tidak ada proteksi pada thread karena: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i="1" lang="en-US"/>
              <a:t>Impossible</a:t>
            </a:r>
            <a:endParaRPr i="1"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Tidak diperlukan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Mengapa?</a:t>
            </a:r>
            <a:endParaRPr/>
          </a:p>
        </p:txBody>
      </p:sp>
      <p:pic>
        <p:nvPicPr>
          <p:cNvPr descr="02-12" id="260" name="Google Shape;26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75764" y="3881856"/>
            <a:ext cx="8550276" cy="276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4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Model thread klasik</a:t>
            </a:r>
            <a:endParaRPr/>
          </a:p>
        </p:txBody>
      </p:sp>
      <p:sp>
        <p:nvSpPr>
          <p:cNvPr id="266" name="Google Shape;266;p24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Sama halnya dengan proses, thread bisa jadi berada di antara 4 kondisi: running, ready, blocked atau terminated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Setiap thread memiliki stack tersendiri karena masing-masing memiliki sejarah eksekusi yang berbeda</a:t>
            </a:r>
            <a:endParaRPr/>
          </a:p>
        </p:txBody>
      </p:sp>
      <p:pic>
        <p:nvPicPr>
          <p:cNvPr descr="02-13" id="267" name="Google Shape;26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71124" y="3932050"/>
            <a:ext cx="4986499" cy="2794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5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Model klasik thread</a:t>
            </a:r>
            <a:endParaRPr/>
          </a:p>
        </p:txBody>
      </p:sp>
      <p:sp>
        <p:nvSpPr>
          <p:cNvPr id="273" name="Google Shape;273;p25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Beberapa perintah terkait dengan thread: thread_create, thread_exit, thread_join, thread_yield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Thread tidak dapat dikontrol oleh interupsi clock seperti halnya proses, oleh karena itu thread harus menyerahkan CPU secara sukarela dengan perintah thread_yield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26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Model klasik thread</a:t>
            </a:r>
            <a:endParaRPr/>
          </a:p>
        </p:txBody>
      </p:sp>
      <p:sp>
        <p:nvSpPr>
          <p:cNvPr id="279" name="Google Shape;279;p26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Masalah yang timbul akibat adanya thread: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Jika parent process memiliki banyak thread, apakah child process juga mewarisi thread tersebut? Bagaimana jika tidak mewarisi semua thread, padahal thread tersebut dibutuhkan agar proses dapat berjalan?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Apa yang terjadi pada thread di masing-masing parent dan child process pada saat terjadi event I/O? Apakah keduanya mendapatkan event yang sama?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Bagaimana jika satu thread menutup file sementara masih dibaca oleh thread lain?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7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Implementasi thread</a:t>
            </a:r>
            <a:endParaRPr/>
          </a:p>
        </p:txBody>
      </p:sp>
      <p:sp>
        <p:nvSpPr>
          <p:cNvPr id="286" name="Google Shape;286;p27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User space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Kernel space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Hybrid</a:t>
            </a:r>
            <a:endParaRPr/>
          </a:p>
        </p:txBody>
      </p:sp>
      <p:pic>
        <p:nvPicPr>
          <p:cNvPr descr="02-16" id="287" name="Google Shape;287;p27"/>
          <p:cNvPicPr preferRelativeResize="0"/>
          <p:nvPr/>
        </p:nvPicPr>
        <p:blipFill rotWithShape="1">
          <a:blip r:embed="rId3">
            <a:alphaModFix/>
          </a:blip>
          <a:srcRect b="0" l="0" r="46267" t="0"/>
          <a:stretch/>
        </p:blipFill>
        <p:spPr>
          <a:xfrm>
            <a:off x="7471695" y="1011968"/>
            <a:ext cx="2880321" cy="25350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02-17" id="288" name="Google Shape;28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53151" y="4032024"/>
            <a:ext cx="4442130" cy="265622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9" name="Google Shape;289;p27"/>
          <p:cNvGrpSpPr/>
          <p:nvPr/>
        </p:nvGrpSpPr>
        <p:grpSpPr>
          <a:xfrm>
            <a:off x="7248124" y="3618753"/>
            <a:ext cx="2736240" cy="2752587"/>
            <a:chOff x="539551" y="3527133"/>
            <a:chExt cx="3096345" cy="3114843"/>
          </a:xfrm>
        </p:grpSpPr>
        <p:pic>
          <p:nvPicPr>
            <p:cNvPr descr="02-16" id="290" name="Google Shape;290;p27"/>
            <p:cNvPicPr preferRelativeResize="0"/>
            <p:nvPr/>
          </p:nvPicPr>
          <p:blipFill rotWithShape="1">
            <a:blip r:embed="rId3">
              <a:alphaModFix/>
            </a:blip>
            <a:srcRect b="0" l="57678" r="0" t="0"/>
            <a:stretch/>
          </p:blipFill>
          <p:spPr>
            <a:xfrm>
              <a:off x="1041018" y="3540748"/>
              <a:ext cx="2594878" cy="31012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02-16" id="291" name="Google Shape;291;p27"/>
            <p:cNvPicPr preferRelativeResize="0"/>
            <p:nvPr/>
          </p:nvPicPr>
          <p:blipFill rotWithShape="1">
            <a:blip r:embed="rId3">
              <a:alphaModFix/>
            </a:blip>
            <a:srcRect b="14908" l="0" r="90610" t="0"/>
            <a:stretch/>
          </p:blipFill>
          <p:spPr>
            <a:xfrm>
              <a:off x="539551" y="3527133"/>
              <a:ext cx="575692" cy="263886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292" name="Google Shape;292;p27"/>
          <p:cNvCxnSpPr/>
          <p:nvPr/>
        </p:nvCxnSpPr>
        <p:spPr>
          <a:xfrm>
            <a:off x="4511824" y="1916832"/>
            <a:ext cx="2520280" cy="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293" name="Google Shape;293;p27"/>
          <p:cNvCxnSpPr/>
          <p:nvPr/>
        </p:nvCxnSpPr>
        <p:spPr>
          <a:xfrm>
            <a:off x="4655840" y="2492896"/>
            <a:ext cx="2592288" cy="1872208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  <p:cxnSp>
        <p:nvCxnSpPr>
          <p:cNvPr id="294" name="Google Shape;294;p27"/>
          <p:cNvCxnSpPr/>
          <p:nvPr/>
        </p:nvCxnSpPr>
        <p:spPr>
          <a:xfrm>
            <a:off x="2927648" y="3356992"/>
            <a:ext cx="0" cy="936104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00"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8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Interprocess communication</a:t>
            </a:r>
            <a:endParaRPr/>
          </a:p>
        </p:txBody>
      </p:sp>
      <p:sp>
        <p:nvSpPr>
          <p:cNvPr id="300" name="Google Shape;300;p28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Interprocess communication = IPC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Komunikasi dapat terjadi di antara proses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Contoh: perintah pipe pada shell yang mengirimkan data dari satu proses ke proses lain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Komunikasi </a:t>
            </a:r>
            <a:r>
              <a:rPr lang="en-US"/>
              <a:t>antar proses</a:t>
            </a:r>
            <a:r>
              <a:rPr lang="en-US"/>
              <a:t> pada dasarnya adalah: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Bagaimana cara proses mengirimkan informasi ke proses lain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Menjamin proses tidak saling “mendahului”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Menjamin urutan eksekusi proses ketika ada dependensi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9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Race condition</a:t>
            </a:r>
            <a:endParaRPr/>
          </a:p>
        </p:txBody>
      </p:sp>
      <p:sp>
        <p:nvSpPr>
          <p:cNvPr id="306" name="Google Shape;306;p29"/>
          <p:cNvSpPr txBox="1"/>
          <p:nvPr>
            <p:ph idx="1" type="body"/>
          </p:nvPr>
        </p:nvSpPr>
        <p:spPr>
          <a:xfrm>
            <a:off x="838200" y="1825625"/>
            <a:ext cx="511265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Contoh, print spooler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Proses yang ingin mencetak memasukkan nama file ke dalam spooler directory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Printer daemon memeriksa spooler directory apakah ada file yang harus dicetak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Ada 2 proses, A &amp; B, ingin mencetak</a:t>
            </a:r>
            <a:endParaRPr/>
          </a:p>
        </p:txBody>
      </p:sp>
      <p:pic>
        <p:nvPicPr>
          <p:cNvPr descr="02-21" id="307" name="Google Shape;30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9574" y="1825626"/>
            <a:ext cx="4998902" cy="36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0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Critical region</a:t>
            </a:r>
            <a:endParaRPr/>
          </a:p>
        </p:txBody>
      </p:sp>
      <p:sp>
        <p:nvSpPr>
          <p:cNvPr id="313" name="Google Shape;313;p30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Untuk menjamin race condition tidak terjadi, maka harus ada mekanisme yang mencegah lebih dari satu proses membaca dan menulis sumber daya bersama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Dengan kata lain, </a:t>
            </a:r>
            <a:r>
              <a:rPr b="1" lang="en-US"/>
              <a:t>mutual exclusion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Bagian proses yang sedang mengakses sumber daya bersama disebut sebagai </a:t>
            </a:r>
            <a:r>
              <a:rPr b="1" lang="en-US"/>
              <a:t>critical region </a:t>
            </a:r>
            <a:r>
              <a:rPr lang="en-US"/>
              <a:t>atau </a:t>
            </a:r>
            <a:r>
              <a:rPr b="1" lang="en-US"/>
              <a:t>critical section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1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Critical region</a:t>
            </a:r>
            <a:endParaRPr/>
          </a:p>
        </p:txBody>
      </p:sp>
      <p:sp>
        <p:nvSpPr>
          <p:cNvPr id="319" name="Google Shape;319;p31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Untuk menghindari race condition: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Tidak boleh ada 2 proses berada di dalam critical region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Tidak boleh ada asumsi mengenai kecepatan dan jumlah CPU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Proses yang tidak berada pada critical region tidak boleh </a:t>
            </a:r>
            <a:r>
              <a:rPr lang="en-US"/>
              <a:t>memblok</a:t>
            </a:r>
            <a:r>
              <a:rPr lang="en-US"/>
              <a:t> proses lain</a:t>
            </a:r>
            <a:endParaRPr/>
          </a:p>
          <a:p>
            <a:pPr indent="-228600" lvl="1" marL="685800" rtl="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Proses tidak boleh menunggu selamanya untuk masuk ke dalam critical region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2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Critical region</a:t>
            </a:r>
            <a:endParaRPr/>
          </a:p>
        </p:txBody>
      </p:sp>
      <p:sp>
        <p:nvSpPr>
          <p:cNvPr id="325" name="Google Shape;325;p32"/>
          <p:cNvSpPr txBox="1"/>
          <p:nvPr>
            <p:ph idx="1" type="body"/>
          </p:nvPr>
        </p:nvSpPr>
        <p:spPr>
          <a:xfrm>
            <a:off x="1981200" y="5445225"/>
            <a:ext cx="8229600" cy="6809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Mutual exclusion dengan critical region</a:t>
            </a:r>
            <a:endParaRPr/>
          </a:p>
        </p:txBody>
      </p:sp>
      <p:pic>
        <p:nvPicPr>
          <p:cNvPr descr="02-22" id="326" name="Google Shape;326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97138" y="1556792"/>
            <a:ext cx="7289800" cy="35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33"/>
          <p:cNvSpPr txBox="1"/>
          <p:nvPr>
            <p:ph type="title"/>
          </p:nvPr>
        </p:nvSpPr>
        <p:spPr>
          <a:xfrm>
            <a:off x="2325756" y="278296"/>
            <a:ext cx="8982699" cy="1003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</a:pPr>
            <a:r>
              <a:rPr lang="en-US"/>
              <a:t>Berbagai teknik mutual exclusion</a:t>
            </a:r>
            <a:endParaRPr/>
          </a:p>
        </p:txBody>
      </p:sp>
      <p:sp>
        <p:nvSpPr>
          <p:cNvPr id="332" name="Google Shape;332;p33"/>
          <p:cNvSpPr txBox="1"/>
          <p:nvPr>
            <p:ph idx="1" type="body"/>
          </p:nvPr>
        </p:nvSpPr>
        <p:spPr>
          <a:xfrm>
            <a:off x="838199" y="1461052"/>
            <a:ext cx="10453915" cy="47159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Busy waiting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Sleep and wakeup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Semaphore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Mutex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Monitor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Message passing</a:t>
            </a:r>
            <a:endParaRPr/>
          </a:p>
          <a:p>
            <a:pPr indent="-228600" lvl="0" marL="2286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Barrier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JGU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2020-10-07T03:46:33Z</dcterms:created>
  <dc:creator>dian nugraha</dc:creator>
</cp:coreProperties>
</file>